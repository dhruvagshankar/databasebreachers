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7217-956A-47DB-A9F4-622913345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7404B-A83E-48E0-AE37-DBCB1E6EC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B4557-AA50-4AE3-8B79-6ADC2F84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6EF93-66C4-4EF9-BCA9-D7471DB4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5EC95-BED6-4D9E-A740-334CA885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6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1BFB-1495-444D-ABEF-D56E62548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D8AA-7B9D-4A5F-9FA4-01F4F90B1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138EA-6FCC-4934-A07F-2085C010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2B53C-6CEB-4C77-B421-2BDA86F0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DCF7E-36CE-48F6-87A1-8C723CBF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54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2032-3E62-4051-A10E-FFC3E7D2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1DEDE-C580-4111-8101-318B57E9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5B4E-CC50-43D5-AAC3-3D8DD9F3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E25A3-FD5C-4955-9D60-3E01ABD9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86DD-2FB0-41D4-9039-90B4C6F8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15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B525-F3E7-4990-9CAD-C3877D67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C567-4D9B-4732-A84D-4690C8E4D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180E0-2E9D-4052-9ADA-C844DF908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16B65-DCA4-4D85-BF4F-CC8F2874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8A1F-DB59-47E6-B24F-03CAA3D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1F8B6-42DF-461A-8BF6-5E735A2B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79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22C5-D366-412A-8A71-4A7B212F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AF088-C017-448E-97E1-2FA68A1B5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BA40A-07D0-4D8E-85AF-5237C179F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B8CE4-B084-4FC4-B2F9-3405A6E1D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A3614-A656-4266-B8A6-458F8DBFE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185E1-FFF3-4247-ADA9-7C518013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F84B0-AC46-4EC6-B027-8B71E63A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FEF8E-1B9B-489F-9627-96A5910B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0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3F94-1C56-42E3-AADE-BE309BF7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40FA0-F8C0-4CE2-89C3-A8E4EA4B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6334D-0B0C-4212-AA24-49FBBD45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22258-F8E0-4FF1-BBDD-22A90AF9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126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3275-DEEC-4BDF-8C7E-AE1E51F2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B43DA-DAED-4CAE-A842-75FC1F4B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7A4D1-BA15-4824-B4EE-AC372CBA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34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6F87-CFDC-4A3E-BB67-BF25DEBEB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B532-9D88-44F8-BDA1-333F89DB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9AA6D-2DF2-4A40-AA13-FB4E9AA9F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2D2EC-6012-4DBE-8905-D53B1923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A5F1-45B4-4172-9CCC-3FEE0FD0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8998C-0FD9-4318-95C8-64FB5FBA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2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CE18-33F4-4787-8945-5D140B94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360AB-EF33-41CE-A984-7C88714F3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64488-9024-43E8-A35B-E336AE454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EFA98-A230-4E52-B8AF-B8DCD72F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3482B-5C29-49A8-BD0F-6FC4D429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28641-3F6A-42CE-BC30-2D22FE82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14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58F3-776B-4F3A-9B7B-A288CECB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E0C8E-F52A-4E91-B8C7-D07059AB3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D25E-E886-48A0-B583-3CB085FE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FCC33-D082-442C-9C6F-7BE8F552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77AF-75DA-42E9-BA9B-ABFCBAD9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E9CF6-FE7C-452E-B0D3-E00BDC638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E1F80-D61E-4C00-AB8E-9155172B9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75F6-315E-4A9B-A660-5588BDD8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C77D6-1572-4A72-BDAC-0EC58D89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ED1C-EBDD-4214-879E-4515C682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12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10E69-86A1-462E-B19A-359271C0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0B89-A8AA-4E8E-9FC6-16FD5D6CA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ABB0-49B9-441C-981F-E01F6DC98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5DF7-AC60-418F-A608-D733AE81E39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41960-FF8D-46BB-81B3-F91E983C7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28ECD-6A27-48F7-A3DA-14452D4C7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F8785-C8B5-447B-9BB2-48BDF778F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26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A155-139D-447F-9F94-FA70106A0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9309"/>
            <a:ext cx="9144000" cy="2626360"/>
          </a:xfrm>
        </p:spPr>
        <p:txBody>
          <a:bodyPr>
            <a:normAutofit/>
          </a:bodyPr>
          <a:lstStyle/>
          <a:p>
            <a:r>
              <a:rPr lang="en-US" dirty="0"/>
              <a:t>Fraud Detection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69518-2212-40C4-A23D-D642FC6FA4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 Statement: Digital financial systems process millions of transactions daily, making it difficult to detect fraudulent activities in real time. Fraudsters often mimic legitimate transaction behavior, making detection challenging.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32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0953F-204E-47AE-BA2F-845B83C4A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45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51,000 transactions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behavioral features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Device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Payment 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 history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Identify </a:t>
            </a:r>
            <a:r>
              <a:rPr lang="en-US" b="1" dirty="0"/>
              <a:t>fraud risk patterns and behavioral indicators</a:t>
            </a:r>
            <a:r>
              <a:rPr lang="en-US" dirty="0"/>
              <a:t> that help detect suspicious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97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317E-47B7-463A-A455-DCF6E826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B840A1-8033-45A1-AA2F-3ECE7844E2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450" y="1825625"/>
            <a:ext cx="58931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23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0400-B516-4BFC-8A3D-BF3C93EE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DAFA-E8EA-44D0-A88F-CDE01EC8E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The Transaction Strategy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US" sz="1700" b="1" dirty="0"/>
              <a:t>Mid-Range Values:</a:t>
            </a:r>
            <a:r>
              <a:rPr lang="en-US" sz="1700" dirty="0"/>
              <a:t> Fraudulent transactions are around mid-range values rather than extreme highs. This suggests an attempt to </a:t>
            </a:r>
            <a:r>
              <a:rPr lang="en-US" sz="1700" b="1" dirty="0"/>
              <a:t>mimic normal spending behavior</a:t>
            </a:r>
            <a:r>
              <a:rPr lang="en-US" sz="1700" dirty="0"/>
              <a:t> to bypass automated triggers that flag unusually large amounts.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1700" b="1" dirty="0"/>
              <a:t>Consistency over Time:</a:t>
            </a:r>
            <a:r>
              <a:rPr lang="en-US" sz="1700" dirty="0"/>
              <a:t> Fraud risk remains relatively stable throughout a 24-hour cycle. While minor peaks occur in the afternoon and late evening, there is no "safe" time for a system to lower its guard.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6393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AAA184A-7E2C-4E01-A49A-0F439BC882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323" y="48824"/>
            <a:ext cx="8748333" cy="374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75FF408-1CF8-4E98-8854-B151250B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04" y="3789727"/>
            <a:ext cx="5433925" cy="296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08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0400-B516-4BFC-8A3D-BF3C93EE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DAFA-E8EA-44D0-A88F-CDE01EC8E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 High-Risk Digital Profiles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US" sz="1700" dirty="0"/>
              <a:t>Online purchases and mobile-based bill payments are significantly more vulnerable than traditional ATM or Point-of-Sale (POS) transaction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Net banking and UPI transactions show higher risk configurations compared to legacy banking methods.</a:t>
            </a:r>
          </a:p>
          <a:p>
            <a:pPr marL="0" indent="0">
              <a:buNone/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23954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5842BA0-B52A-4C28-B50A-BCD4AA1D3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2" y="196731"/>
            <a:ext cx="4655890" cy="319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2C33AAE-02B1-4CE9-9DDC-F6227928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830" y="196731"/>
            <a:ext cx="3973803" cy="387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D0918FCB-EA83-432E-A532-DE6068F0E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234" y="3429000"/>
            <a:ext cx="4020516" cy="327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12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0400-B516-4BFC-8A3D-BF3C93EE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DAFA-E8EA-44D0-A88F-CDE01EC8E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3.  Historical Indicators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US" sz="1700" dirty="0"/>
              <a:t>Surprisingly, transaction frequency (number of transactions in the last 24 hours) was similar for both legitimate and fraudulent users. High activity alone is not a strong enough indicator of fraud.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There is no significant correlation between how old an account is and its likelihood of being defrauded. This suggests that </a:t>
            </a:r>
            <a:r>
              <a:rPr lang="en-US" sz="1700" b="1" dirty="0"/>
              <a:t>account compromise</a:t>
            </a:r>
            <a:r>
              <a:rPr lang="en-US" sz="1700" dirty="0"/>
              <a:t> (taking over an old account) is just as prevalent as "synthetic fraud" (creating a new account for fraud).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46453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FB8D282-6995-4A49-8875-574E50B9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294"/>
            <a:ext cx="5543334" cy="360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177ED01-3362-4022-8C5B-92191D48F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166" y="2921162"/>
            <a:ext cx="5845415" cy="373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58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5AC8-07F7-4253-BB46-F9B454539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480" y="2766218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135B4-86FE-4ADB-AB05-1B8A551B6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67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283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Fraud Detection Analytics</vt:lpstr>
      <vt:lpstr>PowerPoint Presentation</vt:lpstr>
      <vt:lpstr>Architecture</vt:lpstr>
      <vt:lpstr>Key Insights</vt:lpstr>
      <vt:lpstr>PowerPoint Presentation</vt:lpstr>
      <vt:lpstr>Key Insights</vt:lpstr>
      <vt:lpstr>PowerPoint Presentation</vt:lpstr>
      <vt:lpstr>Key Insights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Analytics</dc:title>
  <dc:creator>Dhruva G Shankar</dc:creator>
  <cp:lastModifiedBy>Dhruva G Shankar</cp:lastModifiedBy>
  <cp:revision>4</cp:revision>
  <dcterms:created xsi:type="dcterms:W3CDTF">2026-03-06T11:20:17Z</dcterms:created>
  <dcterms:modified xsi:type="dcterms:W3CDTF">2026-03-06T11:47:51Z</dcterms:modified>
</cp:coreProperties>
</file>